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3" r:id="rId3"/>
    <p:sldId id="262" r:id="rId4"/>
    <p:sldId id="263" r:id="rId5"/>
    <p:sldId id="267" r:id="rId6"/>
    <p:sldId id="304" r:id="rId7"/>
    <p:sldId id="264" r:id="rId8"/>
    <p:sldId id="305" r:id="rId9"/>
    <p:sldId id="348" r:id="rId10"/>
    <p:sldId id="334" r:id="rId11"/>
    <p:sldId id="335" r:id="rId12"/>
    <p:sldId id="336" r:id="rId13"/>
    <p:sldId id="337" r:id="rId14"/>
    <p:sldId id="338" r:id="rId15"/>
    <p:sldId id="265" r:id="rId16"/>
    <p:sldId id="307" r:id="rId17"/>
    <p:sldId id="294" r:id="rId18"/>
    <p:sldId id="286" r:id="rId19"/>
    <p:sldId id="290" r:id="rId20"/>
    <p:sldId id="291" r:id="rId21"/>
    <p:sldId id="287" r:id="rId22"/>
    <p:sldId id="306" r:id="rId23"/>
    <p:sldId id="289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909E"/>
    <a:srgbClr val="D4D0C6"/>
    <a:srgbClr val="8B7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200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68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EA441-6461-48FA-BE8E-BC16A1BDD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064EB-8652-48FF-BED4-BB9710EDED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21.xml"/><Relationship Id="rId6" Type="http://schemas.openxmlformats.org/officeDocument/2006/relationships/image" Target="../media/image2.png"/><Relationship Id="rId5" Type="http://schemas.openxmlformats.org/officeDocument/2006/relationships/tags" Target="../tags/tag20.xml"/><Relationship Id="rId4" Type="http://schemas.openxmlformats.org/officeDocument/2006/relationships/image" Target="../media/image6.png"/><Relationship Id="rId3" Type="http://schemas.openxmlformats.org/officeDocument/2006/relationships/tags" Target="../tags/tag19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2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15" Type="http://schemas.openxmlformats.org/officeDocument/2006/relationships/tags" Target="../tags/tag39.xml"/><Relationship Id="rId14" Type="http://schemas.openxmlformats.org/officeDocument/2006/relationships/image" Target="../media/image14.png"/><Relationship Id="rId13" Type="http://schemas.openxmlformats.org/officeDocument/2006/relationships/tags" Target="../tags/tag38.xml"/><Relationship Id="rId12" Type="http://schemas.openxmlformats.org/officeDocument/2006/relationships/image" Target="../media/image13.png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6.xml"/><Relationship Id="rId19" Type="http://schemas.openxmlformats.org/officeDocument/2006/relationships/tags" Target="../tags/tag61.xml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5" name="圆角矩形 24"/>
          <p:cNvSpPr/>
          <p:nvPr/>
        </p:nvSpPr>
        <p:spPr>
          <a:xfrm>
            <a:off x="3352800" y="2684681"/>
            <a:ext cx="5511800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928370" y="1807210"/>
            <a:ext cx="10764520" cy="10718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6000" dirty="0">
                <a:solidFill>
                  <a:srgbClr val="78909E"/>
                </a:solidFill>
                <a:latin typeface="+mj-lt"/>
                <a:ea typeface="+mj-lt"/>
                <a:cs typeface="+mj-lt"/>
              </a:rPr>
              <a:t>“学海智航”：LearnSailor</a:t>
            </a:r>
            <a:endParaRPr lang="zh-CN" altLang="en-US" sz="60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  <a:p>
            <a:pPr algn="ctr"/>
            <a:endParaRPr lang="zh-CN" altLang="en-US" sz="60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805430" y="3019425"/>
            <a:ext cx="960818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rgbClr val="78909E"/>
                </a:solidFill>
                <a:ea typeface="+mn-lt"/>
                <a:cs typeface="+mn-lt"/>
                <a:sym typeface="+mn-ea"/>
              </a:rPr>
              <a:t>——基于Langchain的知识图智能问答系统</a:t>
            </a:r>
            <a:endParaRPr lang="zh-CN" altLang="en-US" sz="3600" dirty="0">
              <a:solidFill>
                <a:srgbClr val="78909E"/>
              </a:solidFill>
              <a:ea typeface="+mn-lt"/>
              <a:cs typeface="+mn-lt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515735" y="4641215"/>
            <a:ext cx="4651176" cy="750570"/>
            <a:chOff x="6434" y="6854"/>
            <a:chExt cx="8202" cy="1182"/>
          </a:xfrm>
        </p:grpSpPr>
        <p:sp>
          <p:nvSpPr>
            <p:cNvPr id="28" name="圆角矩形 27"/>
            <p:cNvSpPr/>
            <p:nvPr/>
          </p:nvSpPr>
          <p:spPr>
            <a:xfrm>
              <a:off x="6434" y="6854"/>
              <a:ext cx="7956" cy="936"/>
            </a:xfrm>
            <a:prstGeom prst="roundRect">
              <a:avLst>
                <a:gd name="adj" fmla="val 50000"/>
              </a:avLst>
            </a:prstGeom>
            <a:solidFill>
              <a:srgbClr val="78909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836" y="7011"/>
              <a:ext cx="7800" cy="102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2000" dirty="0">
                  <a:solidFill>
                    <a:schemeClr val="bg1"/>
                  </a:solidFill>
                  <a:effectLst/>
                  <a:ea typeface="+mn-lt"/>
                  <a:cs typeface="Arial" panose="020B0604020202020204" pitchFamily="34" charset="0"/>
                  <a:sym typeface="+mn-lt"/>
                </a:rPr>
                <a:t>段书文、郭力维、刘子玉、毛晓一</a:t>
              </a:r>
              <a:endParaRPr kumimoji="0" lang="zh-CN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Arial" panose="020B0604020202020204" pitchFamily="34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131442" y="2409853"/>
            <a:ext cx="106984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1/ 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3208655" y="2444750"/>
            <a:ext cx="2734945" cy="689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项目简介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131442" y="3676450"/>
            <a:ext cx="106984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3/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3208766" y="3711174"/>
            <a:ext cx="27348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技术实现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6470015" y="2393950"/>
            <a:ext cx="1278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2/ 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7619061" y="2453522"/>
            <a:ext cx="27348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系统架构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6541737" y="3685395"/>
            <a:ext cx="106984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4/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7619061" y="3720119"/>
            <a:ext cx="27348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功能演示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42" name="PA_文本框 2"/>
          <p:cNvSpPr txBox="1"/>
          <p:nvPr>
            <p:custDataLst>
              <p:tags r:id="rId11"/>
            </p:custDataLst>
          </p:nvPr>
        </p:nvSpPr>
        <p:spPr>
          <a:xfrm>
            <a:off x="4887253" y="546036"/>
            <a:ext cx="1912568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6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目录</a:t>
            </a:r>
            <a:endParaRPr lang="zh-CN" altLang="en-US" sz="60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2258695" y="4977130"/>
            <a:ext cx="8481060" cy="829945"/>
            <a:chOff x="3556" y="9039"/>
            <a:chExt cx="13356" cy="1307"/>
          </a:xfrm>
        </p:grpSpPr>
        <p:sp>
          <p:nvSpPr>
            <p:cNvPr id="2" name="文本框 1"/>
            <p:cNvSpPr txBox="1"/>
            <p:nvPr>
              <p:custDataLst>
                <p:tags r:id="rId13"/>
              </p:custDataLst>
            </p:nvPr>
          </p:nvSpPr>
          <p:spPr>
            <a:xfrm>
              <a:off x="3556" y="9039"/>
              <a:ext cx="1485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4800" noProof="0" dirty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  <a:cs typeface="+mn-ea"/>
                  <a:sym typeface="+mn-lt"/>
                </a:rPr>
                <a:t>5/</a:t>
              </a:r>
              <a:endParaRPr lang="en-US" altLang="zh-CN" sz="480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4"/>
              </p:custDataLst>
            </p:nvPr>
          </p:nvSpPr>
          <p:spPr>
            <a:xfrm>
              <a:off x="5009" y="9181"/>
              <a:ext cx="430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i="0" u="none" strike="noStrike" kern="1200" cap="none" spc="0" normalizeH="0" baseline="0" noProof="0" dirty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  <a:cs typeface="+mn-ea"/>
                  <a:sym typeface="+mn-lt"/>
                </a:rPr>
                <a:t>创新点</a:t>
              </a:r>
              <a:endPara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040" y="9794"/>
              <a:ext cx="4884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5"/>
              </p:custDataLst>
            </p:nvPr>
          </p:nvSpPr>
          <p:spPr>
            <a:xfrm>
              <a:off x="12100" y="9169"/>
              <a:ext cx="430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i="0" u="none" strike="noStrike" kern="1200" cap="none" spc="0" normalizeH="0" baseline="0" noProof="0" dirty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  <a:cs typeface="+mn-ea"/>
                  <a:sym typeface="+mn-lt"/>
                </a:rPr>
                <a:t>团队分工</a:t>
              </a:r>
              <a:endPara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2028" y="9782"/>
              <a:ext cx="4884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6"/>
              </p:custDataLst>
            </p:nvPr>
          </p:nvSpPr>
          <p:spPr>
            <a:xfrm>
              <a:off x="10598" y="9039"/>
              <a:ext cx="1430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4800" noProof="0" dirty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  <a:cs typeface="+mn-ea"/>
                  <a:sym typeface="+mn-lt"/>
                </a:rPr>
                <a:t>6/</a:t>
              </a:r>
              <a:endParaRPr lang="en-US" altLang="zh-CN" sz="480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PART.01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0024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项目简介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"/>
          <p:cNvSpPr txBox="1">
            <a:spLocks noChangeArrowheads="1"/>
          </p:cNvSpPr>
          <p:nvPr/>
        </p:nvSpPr>
        <p:spPr bwMode="auto">
          <a:xfrm>
            <a:off x="1149350" y="1547495"/>
            <a:ext cx="926401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457200" lvl="1" indent="457200" algn="just">
              <a:lnSpc>
                <a:spcPct val="150000"/>
              </a:lnSpc>
              <a:defRPr/>
            </a:pPr>
            <a:r>
              <a:rPr kumimoji="0" lang="zh-CN" altLang="en-US" sz="2800" b="0" i="0" u="none" strike="noStrike" cap="none" spc="0" normalizeH="0" baseline="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日常学习和生活中，大学生面临着海量的学习资料和复习知识，如何高效管理和使用这些资料成为一大挑战。传统的学习和复习方式并不是交互式，若要使用现有的问答系统，却往往只会给出一些</a:t>
            </a:r>
            <a:r>
              <a:rPr kumimoji="0" lang="zh-CN" altLang="en-US" sz="2800" b="0" i="0" u="none" strike="noStrike" cap="none" spc="0" normalizeH="0" baseline="0" noProof="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宽泛性回答</a:t>
            </a:r>
            <a:r>
              <a:rPr kumimoji="0" lang="zh-CN" altLang="en-US" sz="2800" b="0" i="0" u="none" strike="noStrike" cap="none" spc="0" normalizeH="0" baseline="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，不能根据具体的学科领域知识资料提供更加精确的回答，难以满足当代大学生</a:t>
            </a:r>
            <a:r>
              <a:rPr kumimoji="0" lang="zh-CN" altLang="en-US" sz="2800" b="0" i="0" u="none" strike="noStrike" cap="none" spc="0" normalizeH="0" baseline="0" noProof="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个性化、精准化</a:t>
            </a:r>
            <a:r>
              <a:rPr kumimoji="0" lang="zh-CN" altLang="en-US" sz="2800" b="0" i="0" u="none" strike="noStrike" cap="none" spc="0" normalizeH="0" baseline="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的学习需求。</a:t>
            </a:r>
            <a:endParaRPr kumimoji="0" lang="zh-CN" altLang="en-US" sz="2800" b="0" i="0" u="none" strike="noStrike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46" name="PA_文本框 2"/>
          <p:cNvSpPr txBox="1"/>
          <p:nvPr>
            <p:custDataLst>
              <p:tags r:id="rId3"/>
            </p:custDataLst>
          </p:nvPr>
        </p:nvSpPr>
        <p:spPr>
          <a:xfrm>
            <a:off x="705485" y="321310"/>
            <a:ext cx="2452370" cy="87312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32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项目背景</a:t>
            </a:r>
            <a:endParaRPr lang="zh-CN" altLang="en-US" sz="32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"/>
          <p:cNvSpPr txBox="1">
            <a:spLocks noChangeArrowheads="1"/>
          </p:cNvSpPr>
          <p:nvPr/>
        </p:nvSpPr>
        <p:spPr bwMode="auto">
          <a:xfrm>
            <a:off x="369570" y="1400175"/>
            <a:ext cx="867537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457200" marR="0" lvl="1" indent="457200" algn="l" defTabSz="121602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借助Langchain大模型和云计算的强大能力，本项目设计一个知识图智能问答系统LearnSailor，帮助大学生在知识的海洋中像经验丰富的水手一样</a:t>
            </a:r>
            <a:r>
              <a:rPr lang="zh-CN" altLang="en-US" sz="2800" noProof="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快速定位和获取</a:t>
            </a:r>
            <a:r>
              <a:rPr lang="zh-CN" altLang="en-US" sz="280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所需信息，基于上传的不同学科资料构建</a:t>
            </a:r>
            <a:r>
              <a:rPr lang="zh-CN" altLang="en-US" sz="2800" noProof="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本地知识图谱</a:t>
            </a:r>
            <a:r>
              <a:rPr lang="zh-CN" altLang="en-US" sz="2800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，提供更加精确的回答，解决学习或复习过程中的各种问题。</a:t>
            </a:r>
            <a:endParaRPr lang="zh-CN" altLang="en-US" sz="280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792095"/>
            <a:ext cx="2754630" cy="39693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435141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46" name="PA_文本框 2"/>
          <p:cNvSpPr txBox="1"/>
          <p:nvPr>
            <p:custDataLst>
              <p:tags r:id="rId7"/>
            </p:custDataLst>
          </p:nvPr>
        </p:nvSpPr>
        <p:spPr>
          <a:xfrm>
            <a:off x="464113" y="321044"/>
            <a:ext cx="1720285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项目简介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PART.02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8279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系统架构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"/>
          <p:cNvSpPr txBox="1">
            <a:spLocks noChangeArrowheads="1"/>
          </p:cNvSpPr>
          <p:nvPr/>
        </p:nvSpPr>
        <p:spPr bwMode="auto">
          <a:xfrm>
            <a:off x="4575175" y="1064260"/>
            <a:ext cx="5871210" cy="177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智能问答</a:t>
            </a: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图问引擎</a:t>
            </a: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53160" y="1548765"/>
            <a:ext cx="9230360" cy="4643755"/>
            <a:chOff x="2334" y="2536"/>
            <a:chExt cx="14536" cy="7313"/>
          </a:xfrm>
        </p:grpSpPr>
        <p:cxnSp>
          <p:nvCxnSpPr>
            <p:cNvPr id="5" name="直接连接符 4"/>
            <p:cNvCxnSpPr>
              <a:stCxn id="10" idx="1"/>
            </p:cNvCxnSpPr>
            <p:nvPr/>
          </p:nvCxnSpPr>
          <p:spPr>
            <a:xfrm flipH="1" flipV="1">
              <a:off x="2386" y="2960"/>
              <a:ext cx="577" cy="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369" y="2960"/>
              <a:ext cx="0" cy="58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2334" y="8796"/>
              <a:ext cx="577" cy="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 flipV="1">
              <a:off x="2365" y="5868"/>
              <a:ext cx="717" cy="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3"/>
            <p:cNvSpPr/>
            <p:nvPr/>
          </p:nvSpPr>
          <p:spPr>
            <a:xfrm>
              <a:off x="2997" y="2536"/>
              <a:ext cx="3733" cy="857"/>
            </a:xfrm>
            <a:prstGeom prst="roundRect">
              <a:avLst>
                <a:gd name="adj" fmla="val 50000"/>
              </a:avLst>
            </a:prstGeom>
            <a:solidFill>
              <a:srgbClr val="D4D0C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1" name="Rounded Rectangle 4"/>
            <p:cNvSpPr/>
            <p:nvPr/>
          </p:nvSpPr>
          <p:spPr>
            <a:xfrm>
              <a:off x="3001" y="5336"/>
              <a:ext cx="3733" cy="857"/>
            </a:xfrm>
            <a:prstGeom prst="roundRect">
              <a:avLst>
                <a:gd name="adj" fmla="val 50000"/>
              </a:avLst>
            </a:prstGeom>
            <a:solidFill>
              <a:srgbClr val="D4D0C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2" name="Rounded Rectangle 5"/>
            <p:cNvSpPr/>
            <p:nvPr/>
          </p:nvSpPr>
          <p:spPr>
            <a:xfrm>
              <a:off x="3001" y="8275"/>
              <a:ext cx="3733" cy="857"/>
            </a:xfrm>
            <a:prstGeom prst="roundRect">
              <a:avLst>
                <a:gd name="adj" fmla="val 50000"/>
              </a:avLst>
            </a:prstGeom>
            <a:solidFill>
              <a:srgbClr val="D4D0C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657" y="2616"/>
              <a:ext cx="2479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</a:rPr>
                <a:t>前端界面</a:t>
              </a:r>
              <a:endPara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657" y="5433"/>
              <a:ext cx="2479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</a:rPr>
                <a:t>后端服务</a:t>
              </a:r>
              <a:endPara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573" y="8360"/>
              <a:ext cx="2839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78909E"/>
                  </a:solidFill>
                  <a:effectLst/>
                  <a:uLnTx/>
                  <a:uFillTx/>
                  <a:latin typeface="汉仪瑞意宋W" panose="00020600040101010101" pitchFamily="18" charset="-122"/>
                  <a:ea typeface="汉仪瑞意宋W" panose="00020600040101010101" pitchFamily="18" charset="-122"/>
                </a:rPr>
                <a:t>云计算平台</a:t>
              </a:r>
              <a:endPara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</a:endParaRPr>
            </a:p>
          </p:txBody>
        </p:sp>
        <p:sp>
          <p:nvSpPr>
            <p:cNvPr id="18" name="1"/>
            <p:cNvSpPr txBox="1">
              <a:spLocks noChangeArrowheads="1"/>
            </p:cNvSpPr>
            <p:nvPr/>
          </p:nvSpPr>
          <p:spPr bwMode="auto">
            <a:xfrm>
              <a:off x="7624" y="4572"/>
              <a:ext cx="9246" cy="3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问答系统（基于Langchain大模型）</a:t>
              </a: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知识图谱（上传文件生成</a:t>
              </a:r>
              <a:r>
                <a:rPr kumimoji="0" lang="en-US" altLang="zh-CN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graph</a:t>
              </a:r>
              <a:r>
                <a:rPr kumimoji="0" lang="zh-CN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进行存储）</a:t>
              </a: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9" name="1"/>
            <p:cNvSpPr txBox="1">
              <a:spLocks noChangeArrowheads="1"/>
            </p:cNvSpPr>
            <p:nvPr/>
          </p:nvSpPr>
          <p:spPr bwMode="auto">
            <a:xfrm>
              <a:off x="7616" y="7559"/>
              <a:ext cx="9246" cy="2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 defTabSz="12160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121602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Openai API</a:t>
              </a:r>
              <a:endPara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DeepSeek API</a:t>
              </a:r>
              <a:endPara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marL="0" marR="0" lvl="0" indent="0" algn="l" defTabSz="121602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Neo4j</a:t>
              </a:r>
              <a:r>
                <a:rPr kumimoji="0" lang="zh-CN" alt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图数据库</a:t>
              </a: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22" name="左大括号 21"/>
          <p:cNvSpPr/>
          <p:nvPr/>
        </p:nvSpPr>
        <p:spPr>
          <a:xfrm>
            <a:off x="4020820" y="1252855"/>
            <a:ext cx="398145" cy="1160145"/>
          </a:xfrm>
          <a:prstGeom prst="lef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左大括号 24"/>
          <p:cNvSpPr/>
          <p:nvPr/>
        </p:nvSpPr>
        <p:spPr>
          <a:xfrm>
            <a:off x="3986530" y="3018790"/>
            <a:ext cx="398145" cy="1195070"/>
          </a:xfrm>
          <a:prstGeom prst="lef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左大括号 25"/>
          <p:cNvSpPr/>
          <p:nvPr/>
        </p:nvSpPr>
        <p:spPr>
          <a:xfrm>
            <a:off x="4004310" y="4980940"/>
            <a:ext cx="398145" cy="1160145"/>
          </a:xfrm>
          <a:prstGeom prst="lef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PA_文本框 2"/>
          <p:cNvSpPr txBox="1"/>
          <p:nvPr>
            <p:custDataLst>
              <p:tags r:id="rId3"/>
            </p:custDataLst>
          </p:nvPr>
        </p:nvSpPr>
        <p:spPr>
          <a:xfrm>
            <a:off x="464113" y="321044"/>
            <a:ext cx="1720285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系统架构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2" name="PA_文本框 2"/>
          <p:cNvSpPr txBox="1"/>
          <p:nvPr>
            <p:custDataLst>
              <p:tags r:id="rId3"/>
            </p:custDataLst>
          </p:nvPr>
        </p:nvSpPr>
        <p:spPr>
          <a:xfrm>
            <a:off x="464113" y="321044"/>
            <a:ext cx="1720285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系统架构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17675" y="973455"/>
            <a:ext cx="8230870" cy="5650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PART.04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8279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功能演示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46" name="PA_文本框 2"/>
          <p:cNvSpPr txBox="1"/>
          <p:nvPr>
            <p:custDataLst>
              <p:tags r:id="rId3"/>
            </p:custDataLst>
          </p:nvPr>
        </p:nvSpPr>
        <p:spPr>
          <a:xfrm>
            <a:off x="464185" y="110490"/>
            <a:ext cx="4642485" cy="11245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sym typeface="+mn-lt"/>
              </a:rPr>
              <a:t>LearnSailor对话页面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sym typeface="+mn-lt"/>
            </a:endParaRPr>
          </a:p>
          <a:p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385" y="998855"/>
            <a:ext cx="9232556" cy="54360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868045" y="3021965"/>
            <a:ext cx="673100" cy="374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1786890"/>
            <a:ext cx="1807210" cy="2000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u="sng">
                <a:solidFill>
                  <a:schemeClr val="accent1"/>
                </a:solidFill>
              </a:rPr>
              <a:t>侧边栏</a:t>
            </a:r>
            <a:r>
              <a:rPr lang="zh-CN" altLang="en-US">
                <a:solidFill>
                  <a:schemeClr val="accent1"/>
                </a:solidFill>
              </a:rPr>
              <a:t>：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可扩展、</a:t>
            </a:r>
            <a:r>
              <a:rPr lang="zh-CN" altLang="en-US">
                <a:solidFill>
                  <a:schemeClr val="accent1"/>
                </a:solidFill>
              </a:rPr>
              <a:t>伸缩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可创建、删除、重命名新对话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05585" y="1144270"/>
            <a:ext cx="1898650" cy="546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842385" y="5396865"/>
            <a:ext cx="649605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6433185" y="4838065"/>
            <a:ext cx="1009650" cy="501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398385" y="42818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u="sng">
                <a:solidFill>
                  <a:schemeClr val="accent1"/>
                </a:solidFill>
              </a:rPr>
              <a:t>输入框：</a:t>
            </a:r>
            <a:endParaRPr lang="zh-CN" altLang="en-US" u="sng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可上传</a:t>
            </a:r>
            <a:r>
              <a:rPr lang="en-US" altLang="zh-CN">
                <a:solidFill>
                  <a:schemeClr val="accent1"/>
                </a:solidFill>
              </a:rPr>
              <a:t>md</a:t>
            </a:r>
            <a:r>
              <a:rPr lang="zh-CN" altLang="en-US">
                <a:solidFill>
                  <a:schemeClr val="accent1"/>
                </a:solidFill>
              </a:rPr>
              <a:t>文件、开启图问引擎功能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24885" y="1561465"/>
            <a:ext cx="7073900" cy="23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310755" y="346710"/>
            <a:ext cx="3288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u="sng">
                <a:solidFill>
                  <a:schemeClr val="accent1"/>
                </a:solidFill>
              </a:rPr>
              <a:t>聊天框：</a:t>
            </a:r>
            <a:endParaRPr lang="zh-CN" altLang="en-US" u="sng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经过</a:t>
            </a:r>
            <a:r>
              <a:rPr lang="en-US" altLang="zh-CN">
                <a:solidFill>
                  <a:schemeClr val="accent1"/>
                </a:solidFill>
              </a:rPr>
              <a:t>prompt</a:t>
            </a:r>
            <a:r>
              <a:rPr lang="zh-CN" altLang="en-US">
                <a:solidFill>
                  <a:schemeClr val="accent1"/>
                </a:solidFill>
              </a:rPr>
              <a:t>预训练的回答</a:t>
            </a:r>
            <a:endParaRPr lang="zh-CN" altLang="en-US">
              <a:solidFill>
                <a:schemeClr val="accent1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7554595" y="1085215"/>
            <a:ext cx="51435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3" name="文本框 2"/>
          <p:cNvSpPr txBox="1"/>
          <p:nvPr/>
        </p:nvSpPr>
        <p:spPr>
          <a:xfrm>
            <a:off x="374650" y="2330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+mn-lt"/>
              </a:rPr>
              <a:t>基于上传的资料进行回答</a:t>
            </a:r>
            <a:endParaRPr lang="en-US" altLang="zh-CN" sz="28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268730"/>
            <a:ext cx="8948420" cy="444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3" name="文本框 2"/>
          <p:cNvSpPr txBox="1"/>
          <p:nvPr/>
        </p:nvSpPr>
        <p:spPr>
          <a:xfrm>
            <a:off x="577850" y="200660"/>
            <a:ext cx="990155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80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+mn-lt"/>
              </a:rPr>
              <a:t>基于上传的文件生成graph，实时构建动态知识图结构</a:t>
            </a:r>
            <a:endParaRPr lang="zh-CN" altLang="en-US" sz="280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" y="948055"/>
            <a:ext cx="9458960" cy="5685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3" name="文本框 2"/>
          <p:cNvSpPr txBox="1"/>
          <p:nvPr/>
        </p:nvSpPr>
        <p:spPr>
          <a:xfrm>
            <a:off x="273050" y="322580"/>
            <a:ext cx="1300035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80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+mn-lt"/>
              </a:rPr>
              <a:t>基于图数据处理的回答对比：</a:t>
            </a:r>
            <a:endParaRPr lang="en-US" altLang="zh-CN" sz="280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1793240"/>
            <a:ext cx="9515475" cy="2237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35" y="4984115"/>
            <a:ext cx="10138410" cy="1440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82650" y="4389120"/>
            <a:ext cx="99447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cs typeface="+mn-ea"/>
                <a:sym typeface="+mn-lt"/>
              </a:rPr>
              <a:t>采用图数据处理后的内容更加精确，并且基于图检索更加高效</a:t>
            </a:r>
            <a:endParaRPr lang="zh-CN" altLang="en-US" sz="24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3285" y="1231265"/>
            <a:ext cx="7505065" cy="1020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cs typeface="+mn-ea"/>
                <a:sym typeface="+mn-lt"/>
              </a:rPr>
              <a:t>传统的回答过于宽泛，会结合一些其他的上下文</a:t>
            </a:r>
            <a:endParaRPr lang="zh-CN" altLang="en-US" sz="24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7735" y="2477770"/>
            <a:ext cx="9480550" cy="1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6915" y="5756275"/>
            <a:ext cx="10246995" cy="71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PART.03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8279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技术实现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51"/>
          <p:cNvSpPr txBox="1"/>
          <p:nvPr>
            <p:custDataLst>
              <p:tags r:id="rId1"/>
            </p:custDataLst>
          </p:nvPr>
        </p:nvSpPr>
        <p:spPr>
          <a:xfrm>
            <a:off x="1682115" y="3524250"/>
            <a:ext cx="1561465" cy="516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Arial" panose="020B0604020202020204" pitchFamily="34" charset="0"/>
              </a:rPr>
              <a:t>前端技术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1" name="TextBox 51"/>
          <p:cNvSpPr txBox="1"/>
          <p:nvPr>
            <p:custDataLst>
              <p:tags r:id="rId2"/>
            </p:custDataLst>
          </p:nvPr>
        </p:nvSpPr>
        <p:spPr>
          <a:xfrm>
            <a:off x="5158740" y="3524250"/>
            <a:ext cx="1561465" cy="516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Arial" panose="020B0604020202020204" pitchFamily="34" charset="0"/>
              </a:rPr>
              <a:t>后端技术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3" name="TextBox 51"/>
          <p:cNvSpPr txBox="1"/>
          <p:nvPr>
            <p:custDataLst>
              <p:tags r:id="rId3"/>
            </p:custDataLst>
          </p:nvPr>
        </p:nvSpPr>
        <p:spPr>
          <a:xfrm>
            <a:off x="8418195" y="3514090"/>
            <a:ext cx="2329815" cy="516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sym typeface="Arial" panose="020B0604020202020204" pitchFamily="34" charset="0"/>
              </a:rPr>
              <a:t>知识图谱技术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5" name="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2505" y="4273550"/>
            <a:ext cx="3101975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使用HTML、CSS、JavaScript、Vue.js，开发用户交互界面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6" name="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16120" y="4274820"/>
            <a:ext cx="3103245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基于Python、Flask，使用Langchain框架，开发后端服务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7" name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34325" y="4271645"/>
            <a:ext cx="3508375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采用Neo4j图数据库，将资料转化成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graph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，构建和管理本地知识图谱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22" name="PA_文本框 2"/>
          <p:cNvSpPr txBox="1"/>
          <p:nvPr>
            <p:custDataLst>
              <p:tags r:id="rId9"/>
            </p:custDataLst>
          </p:nvPr>
        </p:nvSpPr>
        <p:spPr>
          <a:xfrm>
            <a:off x="464113" y="321044"/>
            <a:ext cx="1720285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技术栈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10"/>
            </p:custDataLst>
          </p:nvPr>
        </p:nvGrpSpPr>
        <p:grpSpPr>
          <a:xfrm>
            <a:off x="1103630" y="1915160"/>
            <a:ext cx="9732010" cy="899160"/>
            <a:chOff x="2004" y="3691"/>
            <a:chExt cx="15326" cy="1416"/>
          </a:xfrm>
        </p:grpSpPr>
        <p:pic>
          <p:nvPicPr>
            <p:cNvPr id="2" name="图片 1"/>
            <p:cNvPicPr/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04" y="3691"/>
              <a:ext cx="4252" cy="1417"/>
            </a:xfrm>
            <a:prstGeom prst="rect">
              <a:avLst/>
            </a:prstGeom>
          </p:spPr>
        </p:pic>
        <p:pic>
          <p:nvPicPr>
            <p:cNvPr id="3" name="图片 2"/>
            <p:cNvPicPr/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474" y="3691"/>
              <a:ext cx="4252" cy="1417"/>
            </a:xfrm>
            <a:prstGeom prst="rect">
              <a:avLst/>
            </a:prstGeom>
          </p:spPr>
        </p:pic>
        <p:pic>
          <p:nvPicPr>
            <p:cNvPr id="4" name="图片 3"/>
            <p:cNvPicPr/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078" y="3691"/>
              <a:ext cx="4252" cy="141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1591732"/>
            <a:ext cx="12192000" cy="4478868"/>
          </a:xfrm>
          <a:prstGeom prst="rect">
            <a:avLst/>
          </a:pr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1"/>
          <p:cNvSpPr txBox="1">
            <a:spLocks noChangeArrowheads="1"/>
          </p:cNvSpPr>
          <p:nvPr/>
        </p:nvSpPr>
        <p:spPr bwMode="auto">
          <a:xfrm>
            <a:off x="823595" y="1971040"/>
            <a:ext cx="10978515" cy="2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Wingdings 2" panose="05020102010507070707" charset="0"/>
              </a:rPr>
              <a:t></a:t>
            </a:r>
            <a:r>
              <a:rPr lang="en-US" altLang="zh-CN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Wingdings 2" panose="05020102010507070707" charset="0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Langchain大模型语义理解、匹配问题，从知识库准确检索知识，结合知识图谱生成高质量答案</a:t>
            </a:r>
            <a:endParaRPr lang="zh-CN" altLang="en-US" sz="2800" dirty="0">
              <a:solidFill>
                <a:schemeClr val="bg1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800" dirty="0">
              <a:solidFill>
                <a:schemeClr val="bg1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800" dirty="0">
              <a:solidFill>
                <a:schemeClr val="bg1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Wingdings 2" panose="05020102010507070707" charset="0"/>
              </a:rPr>
              <a:t></a:t>
            </a:r>
            <a:r>
              <a:rPr lang="zh-CN" altLang="en-US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 云</a:t>
            </a:r>
            <a:r>
              <a:rPr lang="en-US" altLang="zh-CN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graph</a:t>
            </a:r>
            <a:r>
              <a:rPr lang="zh-CN" altLang="en-US" sz="2800" dirty="0">
                <a:solidFill>
                  <a:schemeClr val="bg1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数据库存储知识图数据，确保数据安全，同时获得专业的图数据库管理和优化支持</a:t>
            </a:r>
            <a:endParaRPr lang="zh-CN" altLang="en-US" sz="2800" dirty="0">
              <a:solidFill>
                <a:schemeClr val="bg1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18" name="PA_文本框 2"/>
          <p:cNvSpPr txBox="1"/>
          <p:nvPr>
            <p:custDataLst>
              <p:tags r:id="rId3"/>
            </p:custDataLst>
          </p:nvPr>
        </p:nvSpPr>
        <p:spPr>
          <a:xfrm>
            <a:off x="464185" y="321310"/>
            <a:ext cx="4335780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Langchain和云服务的利用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PART.05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8279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创新点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079499" y="1998133"/>
            <a:ext cx="10033002" cy="1682336"/>
          </a:xfrm>
          <a:prstGeom prst="roundRect">
            <a:avLst>
              <a:gd name="adj" fmla="val 13040"/>
            </a:avLst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210251" y="2115808"/>
            <a:ext cx="1446984" cy="1446983"/>
          </a:xfrm>
          <a:prstGeom prst="roundRect">
            <a:avLst>
              <a:gd name="adj" fmla="val 7736"/>
            </a:avLst>
          </a:pr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 rot="10800000">
            <a:off x="1079499" y="3962400"/>
            <a:ext cx="10033002" cy="1682336"/>
          </a:xfrm>
          <a:prstGeom prst="roundRect">
            <a:avLst>
              <a:gd name="adj" fmla="val 13040"/>
            </a:avLst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 rot="10800000">
            <a:off x="9534765" y="4080077"/>
            <a:ext cx="1446984" cy="1446983"/>
          </a:xfrm>
          <a:prstGeom prst="roundRect">
            <a:avLst>
              <a:gd name="adj" fmla="val 7736"/>
            </a:avLst>
          </a:pr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3427730" y="2225040"/>
            <a:ext cx="258254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高效的知识检索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3427841" y="2604129"/>
            <a:ext cx="692689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利用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neo4j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构建本地知识图谱，利用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graph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结构高效检索知识点，为大学生提供更加精准和高效化的学习支持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1843405" y="4255135"/>
            <a:ext cx="280860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深度的个性化服务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4" name="1"/>
          <p:cNvSpPr txBox="1">
            <a:spLocks noChangeArrowheads="1"/>
          </p:cNvSpPr>
          <p:nvPr/>
        </p:nvSpPr>
        <p:spPr bwMode="auto">
          <a:xfrm>
            <a:off x="1843685" y="4585871"/>
            <a:ext cx="692689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结合Langchain大模型和知识图谱技术，大学生能管理和生成包含多学科的个性化知识库，同时满足大学生的不同学习需求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21" name="PA_文本框 2"/>
          <p:cNvSpPr txBox="1"/>
          <p:nvPr>
            <p:custDataLst>
              <p:tags r:id="rId3"/>
            </p:custDataLst>
          </p:nvPr>
        </p:nvSpPr>
        <p:spPr>
          <a:xfrm>
            <a:off x="464113" y="321044"/>
            <a:ext cx="2931020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创新点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48460" y="2424430"/>
            <a:ext cx="5708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1</a:t>
            </a:r>
            <a:endParaRPr lang="en-US" altLang="zh-CN" sz="48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90455" y="4388485"/>
            <a:ext cx="5353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2</a:t>
            </a:r>
            <a:endParaRPr lang="en-US" altLang="zh-CN" sz="48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079499" y="1998133"/>
            <a:ext cx="10033002" cy="1682336"/>
          </a:xfrm>
          <a:prstGeom prst="roundRect">
            <a:avLst>
              <a:gd name="adj" fmla="val 13040"/>
            </a:avLst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210251" y="2115808"/>
            <a:ext cx="1446984" cy="1446983"/>
          </a:xfrm>
          <a:prstGeom prst="roundRect">
            <a:avLst>
              <a:gd name="adj" fmla="val 7736"/>
            </a:avLst>
          </a:pr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 rot="10800000">
            <a:off x="1079499" y="3962400"/>
            <a:ext cx="10033002" cy="1682336"/>
          </a:xfrm>
          <a:prstGeom prst="roundRect">
            <a:avLst>
              <a:gd name="adj" fmla="val 13040"/>
            </a:avLst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 rot="10800000">
            <a:off x="9534765" y="4080077"/>
            <a:ext cx="1446984" cy="1446983"/>
          </a:xfrm>
          <a:prstGeom prst="roundRect">
            <a:avLst>
              <a:gd name="adj" fmla="val 7736"/>
            </a:avLst>
          </a:pr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1"/>
          <p:cNvSpPr txBox="1">
            <a:spLocks noChangeArrowheads="1"/>
          </p:cNvSpPr>
          <p:nvPr/>
        </p:nvSpPr>
        <p:spPr bwMode="auto">
          <a:xfrm>
            <a:off x="3427730" y="2225040"/>
            <a:ext cx="258254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多维度知识关联展示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2" name="1"/>
          <p:cNvSpPr txBox="1">
            <a:spLocks noChangeArrowheads="1"/>
          </p:cNvSpPr>
          <p:nvPr/>
        </p:nvSpPr>
        <p:spPr bwMode="auto">
          <a:xfrm>
            <a:off x="3427841" y="2604129"/>
            <a:ext cx="692689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利用知识图谱挖掘知识之间的关联关系，便于大学生整理多门学科的知识，帮助构建完整的知识体系，提升学习的深度和广度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1"/>
          <p:cNvSpPr txBox="1">
            <a:spLocks noChangeArrowheads="1"/>
          </p:cNvSpPr>
          <p:nvPr/>
        </p:nvSpPr>
        <p:spPr bwMode="auto">
          <a:xfrm>
            <a:off x="1843405" y="4255135"/>
            <a:ext cx="280860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78909E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智能交互与反馈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78909E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4" name="1"/>
          <p:cNvSpPr txBox="1">
            <a:spLocks noChangeArrowheads="1"/>
          </p:cNvSpPr>
          <p:nvPr/>
        </p:nvSpPr>
        <p:spPr bwMode="auto">
          <a:xfrm>
            <a:off x="1843685" y="4585871"/>
            <a:ext cx="692689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采用交互式对话界面，大学生可上传相应资料与系统进行多轮互动，增强学习的互动性和灵活性，复习知识时采用对话形式也不会太枯燥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21" name="PA_文本框 2"/>
          <p:cNvSpPr txBox="1"/>
          <p:nvPr>
            <p:custDataLst>
              <p:tags r:id="rId3"/>
            </p:custDataLst>
          </p:nvPr>
        </p:nvSpPr>
        <p:spPr>
          <a:xfrm>
            <a:off x="464113" y="321044"/>
            <a:ext cx="2931020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创新点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48460" y="2424430"/>
            <a:ext cx="5708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3</a:t>
            </a:r>
            <a:endParaRPr lang="en-US" altLang="zh-CN" sz="48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90455" y="4388485"/>
            <a:ext cx="5353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8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4</a:t>
            </a:r>
            <a:endParaRPr lang="en-US" altLang="zh-CN" sz="48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7" name="圆角矩形 26"/>
          <p:cNvSpPr/>
          <p:nvPr/>
        </p:nvSpPr>
        <p:spPr>
          <a:xfrm>
            <a:off x="5144009" y="4176322"/>
            <a:ext cx="1922951" cy="338554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03955" y="4176928"/>
            <a:ext cx="13921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PART.06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105274" y="2913284"/>
            <a:ext cx="3987201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2639780" y="2282794"/>
            <a:ext cx="6988640" cy="9772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4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团队分工</a:t>
            </a:r>
            <a:endParaRPr lang="zh-CN" altLang="en-US" sz="4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713171" y="1902173"/>
            <a:ext cx="2383400" cy="3867256"/>
          </a:xfrm>
          <a:prstGeom prst="rect">
            <a:avLst/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1" name="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81972" y="3649966"/>
            <a:ext cx="106211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刘子玉</a:t>
            </a:r>
            <a:endParaRPr lang="zh-CN" altLang="en-US" sz="20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2" name="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07501" y="4070651"/>
            <a:ext cx="1811051" cy="16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负责前端界面的设计和开发、部分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PPT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编写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3516381" y="1902173"/>
            <a:ext cx="2383400" cy="3867256"/>
          </a:xfrm>
          <a:prstGeom prst="rect">
            <a:avLst/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4" name="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85182" y="3649966"/>
            <a:ext cx="106211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毛晓一</a:t>
            </a:r>
            <a:endParaRPr lang="zh-CN" altLang="en-US" sz="20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5" name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810711" y="4070651"/>
            <a:ext cx="1811051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负责后端服务的开发和维护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7"/>
            </p:custDataLst>
          </p:nvPr>
        </p:nvSpPr>
        <p:spPr>
          <a:xfrm>
            <a:off x="6319591" y="1902173"/>
            <a:ext cx="2383400" cy="3867256"/>
          </a:xfrm>
          <a:prstGeom prst="rect">
            <a:avLst/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" name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988392" y="3649966"/>
            <a:ext cx="106211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郭力维</a:t>
            </a:r>
            <a:endParaRPr lang="zh-CN" altLang="en-US" sz="20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38" name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13921" y="4070651"/>
            <a:ext cx="1811051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负责Neo4j图数据库的设计和使用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>
            <p:custDataLst>
              <p:tags r:id="rId10"/>
            </p:custDataLst>
          </p:nvPr>
        </p:nvSpPr>
        <p:spPr>
          <a:xfrm>
            <a:off x="9122801" y="1902173"/>
            <a:ext cx="2383400" cy="3867256"/>
          </a:xfrm>
          <a:prstGeom prst="rect">
            <a:avLst/>
          </a:prstGeom>
          <a:solidFill>
            <a:srgbClr val="D4D0C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0" name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791602" y="3649966"/>
            <a:ext cx="106211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0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cs typeface="+mn-ea"/>
                <a:sym typeface="+mn-lt"/>
              </a:rPr>
              <a:t>段书文</a:t>
            </a:r>
            <a:endParaRPr lang="zh-CN" altLang="en-US" sz="20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41" name="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9373235" y="4069715"/>
            <a:ext cx="2013585" cy="124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负责项目规划管理、文档编写、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PPT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制作及项目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+mn-ea"/>
                <a:sym typeface="+mn-lt"/>
              </a:rPr>
              <a:t>汇报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2" name="任意多边形 41"/>
          <p:cNvSpPr/>
          <p:nvPr>
            <p:custDataLst>
              <p:tags r:id="rId13"/>
            </p:custDataLst>
          </p:nvPr>
        </p:nvSpPr>
        <p:spPr>
          <a:xfrm rot="10800000">
            <a:off x="720121" y="1902173"/>
            <a:ext cx="2376450" cy="1419102"/>
          </a:xfrm>
          <a:custGeom>
            <a:avLst/>
            <a:gdLst>
              <a:gd name="connsiteX0" fmla="*/ 2226480 w 2226480"/>
              <a:gd name="connsiteY0" fmla="*/ 1329547 h 1329547"/>
              <a:gd name="connsiteX1" fmla="*/ 0 w 2226480"/>
              <a:gd name="connsiteY1" fmla="*/ 1329547 h 1329547"/>
              <a:gd name="connsiteX2" fmla="*/ 0 w 2226480"/>
              <a:gd name="connsiteY2" fmla="*/ 278916 h 1329547"/>
              <a:gd name="connsiteX3" fmla="*/ 954725 w 2226480"/>
              <a:gd name="connsiteY3" fmla="*/ 278916 h 1329547"/>
              <a:gd name="connsiteX4" fmla="*/ 1116496 w 2226480"/>
              <a:gd name="connsiteY4" fmla="*/ 0 h 1329547"/>
              <a:gd name="connsiteX5" fmla="*/ 1278268 w 2226480"/>
              <a:gd name="connsiteY5" fmla="*/ 278916 h 1329547"/>
              <a:gd name="connsiteX6" fmla="*/ 2226480 w 2226480"/>
              <a:gd name="connsiteY6" fmla="*/ 278916 h 1329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6480" h="1329547">
                <a:moveTo>
                  <a:pt x="2226480" y="1329547"/>
                </a:moveTo>
                <a:lnTo>
                  <a:pt x="0" y="1329547"/>
                </a:lnTo>
                <a:lnTo>
                  <a:pt x="0" y="278916"/>
                </a:lnTo>
                <a:lnTo>
                  <a:pt x="954725" y="278916"/>
                </a:lnTo>
                <a:lnTo>
                  <a:pt x="1116496" y="0"/>
                </a:lnTo>
                <a:lnTo>
                  <a:pt x="1278268" y="278916"/>
                </a:lnTo>
                <a:lnTo>
                  <a:pt x="2226480" y="278916"/>
                </a:lnTo>
                <a:close/>
              </a:path>
            </a:pathLst>
          </a:cu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14"/>
            </p:custDataLst>
          </p:nvPr>
        </p:nvSpPr>
        <p:spPr>
          <a:xfrm rot="10800000">
            <a:off x="3521828" y="1902174"/>
            <a:ext cx="2376450" cy="1419102"/>
          </a:xfrm>
          <a:custGeom>
            <a:avLst/>
            <a:gdLst>
              <a:gd name="connsiteX0" fmla="*/ 2226480 w 2226480"/>
              <a:gd name="connsiteY0" fmla="*/ 1329547 h 1329547"/>
              <a:gd name="connsiteX1" fmla="*/ 0 w 2226480"/>
              <a:gd name="connsiteY1" fmla="*/ 1329547 h 1329547"/>
              <a:gd name="connsiteX2" fmla="*/ 0 w 2226480"/>
              <a:gd name="connsiteY2" fmla="*/ 278916 h 1329547"/>
              <a:gd name="connsiteX3" fmla="*/ 954725 w 2226480"/>
              <a:gd name="connsiteY3" fmla="*/ 278916 h 1329547"/>
              <a:gd name="connsiteX4" fmla="*/ 1116496 w 2226480"/>
              <a:gd name="connsiteY4" fmla="*/ 0 h 1329547"/>
              <a:gd name="connsiteX5" fmla="*/ 1278268 w 2226480"/>
              <a:gd name="connsiteY5" fmla="*/ 278916 h 1329547"/>
              <a:gd name="connsiteX6" fmla="*/ 2226480 w 2226480"/>
              <a:gd name="connsiteY6" fmla="*/ 278916 h 1329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6480" h="1329547">
                <a:moveTo>
                  <a:pt x="2226480" y="1329547"/>
                </a:moveTo>
                <a:lnTo>
                  <a:pt x="0" y="1329547"/>
                </a:lnTo>
                <a:lnTo>
                  <a:pt x="0" y="278916"/>
                </a:lnTo>
                <a:lnTo>
                  <a:pt x="954725" y="278916"/>
                </a:lnTo>
                <a:lnTo>
                  <a:pt x="1116496" y="0"/>
                </a:lnTo>
                <a:lnTo>
                  <a:pt x="1278268" y="278916"/>
                </a:lnTo>
                <a:lnTo>
                  <a:pt x="2226480" y="278916"/>
                </a:lnTo>
                <a:close/>
              </a:path>
            </a:pathLst>
          </a:cu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15"/>
            </p:custDataLst>
          </p:nvPr>
        </p:nvSpPr>
        <p:spPr>
          <a:xfrm rot="10800000">
            <a:off x="6318088" y="1902174"/>
            <a:ext cx="2386405" cy="1419102"/>
          </a:xfrm>
          <a:custGeom>
            <a:avLst/>
            <a:gdLst>
              <a:gd name="connsiteX0" fmla="*/ 2226480 w 2226480"/>
              <a:gd name="connsiteY0" fmla="*/ 1329547 h 1329547"/>
              <a:gd name="connsiteX1" fmla="*/ 0 w 2226480"/>
              <a:gd name="connsiteY1" fmla="*/ 1329547 h 1329547"/>
              <a:gd name="connsiteX2" fmla="*/ 0 w 2226480"/>
              <a:gd name="connsiteY2" fmla="*/ 278916 h 1329547"/>
              <a:gd name="connsiteX3" fmla="*/ 954725 w 2226480"/>
              <a:gd name="connsiteY3" fmla="*/ 278916 h 1329547"/>
              <a:gd name="connsiteX4" fmla="*/ 1116496 w 2226480"/>
              <a:gd name="connsiteY4" fmla="*/ 0 h 1329547"/>
              <a:gd name="connsiteX5" fmla="*/ 1278268 w 2226480"/>
              <a:gd name="connsiteY5" fmla="*/ 278916 h 1329547"/>
              <a:gd name="connsiteX6" fmla="*/ 2226480 w 2226480"/>
              <a:gd name="connsiteY6" fmla="*/ 278916 h 1329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6480" h="1329547">
                <a:moveTo>
                  <a:pt x="2226480" y="1329547"/>
                </a:moveTo>
                <a:lnTo>
                  <a:pt x="0" y="1329547"/>
                </a:lnTo>
                <a:lnTo>
                  <a:pt x="0" y="278916"/>
                </a:lnTo>
                <a:lnTo>
                  <a:pt x="954725" y="278916"/>
                </a:lnTo>
                <a:lnTo>
                  <a:pt x="1116496" y="0"/>
                </a:lnTo>
                <a:lnTo>
                  <a:pt x="1278268" y="278916"/>
                </a:lnTo>
                <a:lnTo>
                  <a:pt x="2226480" y="278916"/>
                </a:lnTo>
                <a:close/>
              </a:path>
            </a:pathLst>
          </a:cu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16"/>
            </p:custDataLst>
          </p:nvPr>
        </p:nvSpPr>
        <p:spPr>
          <a:xfrm rot="10800000">
            <a:off x="9119796" y="1902175"/>
            <a:ext cx="2386405" cy="1419102"/>
          </a:xfrm>
          <a:custGeom>
            <a:avLst/>
            <a:gdLst>
              <a:gd name="connsiteX0" fmla="*/ 2226480 w 2226480"/>
              <a:gd name="connsiteY0" fmla="*/ 1329547 h 1329547"/>
              <a:gd name="connsiteX1" fmla="*/ 0 w 2226480"/>
              <a:gd name="connsiteY1" fmla="*/ 1329547 h 1329547"/>
              <a:gd name="connsiteX2" fmla="*/ 0 w 2226480"/>
              <a:gd name="connsiteY2" fmla="*/ 278916 h 1329547"/>
              <a:gd name="connsiteX3" fmla="*/ 954725 w 2226480"/>
              <a:gd name="connsiteY3" fmla="*/ 278916 h 1329547"/>
              <a:gd name="connsiteX4" fmla="*/ 1116496 w 2226480"/>
              <a:gd name="connsiteY4" fmla="*/ 0 h 1329547"/>
              <a:gd name="connsiteX5" fmla="*/ 1278268 w 2226480"/>
              <a:gd name="connsiteY5" fmla="*/ 278916 h 1329547"/>
              <a:gd name="connsiteX6" fmla="*/ 2226480 w 2226480"/>
              <a:gd name="connsiteY6" fmla="*/ 278916 h 1329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6480" h="1329547">
                <a:moveTo>
                  <a:pt x="2226480" y="1329547"/>
                </a:moveTo>
                <a:lnTo>
                  <a:pt x="0" y="1329547"/>
                </a:lnTo>
                <a:lnTo>
                  <a:pt x="0" y="278916"/>
                </a:lnTo>
                <a:lnTo>
                  <a:pt x="954725" y="278916"/>
                </a:lnTo>
                <a:lnTo>
                  <a:pt x="1116496" y="0"/>
                </a:lnTo>
                <a:lnTo>
                  <a:pt x="1278268" y="278916"/>
                </a:lnTo>
                <a:lnTo>
                  <a:pt x="2226480" y="278916"/>
                </a:lnTo>
                <a:close/>
              </a:path>
            </a:pathLst>
          </a:custGeom>
          <a:solidFill>
            <a:srgbClr val="789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-373596" y="-432274"/>
            <a:ext cx="2148349" cy="2252607"/>
            <a:chOff x="-1144062" y="-1346674"/>
            <a:chExt cx="6699210" cy="7024318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050"/>
            <a:stretch>
              <a:fillRect/>
            </a:stretch>
          </p:blipFill>
          <p:spPr>
            <a:xfrm rot="12034609">
              <a:off x="-303980" y="-1164487"/>
              <a:ext cx="5859128" cy="3829368"/>
            </a:xfrm>
            <a:custGeom>
              <a:avLst/>
              <a:gdLst>
                <a:gd name="connsiteX0" fmla="*/ 5859128 w 5859128"/>
                <a:gd name="connsiteY0" fmla="*/ 1629772 h 3829368"/>
                <a:gd name="connsiteX1" fmla="*/ 0 w 5859128"/>
                <a:gd name="connsiteY1" fmla="*/ 3829368 h 3829368"/>
                <a:gd name="connsiteX2" fmla="*/ 0 w 5859128"/>
                <a:gd name="connsiteY2" fmla="*/ 166696 h 3829368"/>
                <a:gd name="connsiteX3" fmla="*/ 444034 w 5859128"/>
                <a:gd name="connsiteY3" fmla="*/ 0 h 3829368"/>
                <a:gd name="connsiteX4" fmla="*/ 5271276 w 5859128"/>
                <a:gd name="connsiteY4" fmla="*/ 0 h 3829368"/>
                <a:gd name="connsiteX5" fmla="*/ 5859128 w 5859128"/>
                <a:gd name="connsiteY5" fmla="*/ 1565878 h 38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59128" h="3829368">
                  <a:moveTo>
                    <a:pt x="5859128" y="1629772"/>
                  </a:moveTo>
                  <a:lnTo>
                    <a:pt x="0" y="3829368"/>
                  </a:lnTo>
                  <a:lnTo>
                    <a:pt x="0" y="166696"/>
                  </a:lnTo>
                  <a:lnTo>
                    <a:pt x="444034" y="0"/>
                  </a:lnTo>
                  <a:lnTo>
                    <a:pt x="5271276" y="0"/>
                  </a:lnTo>
                  <a:lnTo>
                    <a:pt x="5859128" y="1565878"/>
                  </a:lnTo>
                  <a:close/>
                </a:path>
              </a:pathLst>
            </a:cu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1" r="4851" b="34531"/>
            <a:stretch>
              <a:fillRect/>
            </a:stretch>
          </p:blipFill>
          <p:spPr>
            <a:xfrm rot="7635096">
              <a:off x="-2694855" y="204119"/>
              <a:ext cx="7024318" cy="3922732"/>
            </a:xfrm>
            <a:custGeom>
              <a:avLst/>
              <a:gdLst>
                <a:gd name="connsiteX0" fmla="*/ 2283192 w 7024318"/>
                <a:gd name="connsiteY0" fmla="*/ 3922732 h 3922732"/>
                <a:gd name="connsiteX1" fmla="*/ 0 w 7024318"/>
                <a:gd name="connsiteY1" fmla="*/ 920356 h 3922732"/>
                <a:gd name="connsiteX2" fmla="*/ 1210260 w 7024318"/>
                <a:gd name="connsiteY2" fmla="*/ 0 h 3922732"/>
                <a:gd name="connsiteX3" fmla="*/ 6783033 w 7024318"/>
                <a:gd name="connsiteY3" fmla="*/ 0 h 3922732"/>
                <a:gd name="connsiteX4" fmla="*/ 7024318 w 7024318"/>
                <a:gd name="connsiteY4" fmla="*/ 317288 h 39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24318" h="3922732">
                  <a:moveTo>
                    <a:pt x="2283192" y="3922732"/>
                  </a:moveTo>
                  <a:lnTo>
                    <a:pt x="0" y="920356"/>
                  </a:lnTo>
                  <a:lnTo>
                    <a:pt x="1210260" y="0"/>
                  </a:lnTo>
                  <a:lnTo>
                    <a:pt x="6783033" y="0"/>
                  </a:lnTo>
                  <a:lnTo>
                    <a:pt x="7024318" y="317288"/>
                  </a:lnTo>
                  <a:close/>
                </a:path>
              </a:pathLst>
            </a:custGeom>
          </p:spPr>
        </p:pic>
      </p:grpSp>
      <p:sp>
        <p:nvSpPr>
          <p:cNvPr id="55" name="PA_文本框 2"/>
          <p:cNvSpPr txBox="1"/>
          <p:nvPr>
            <p:custDataLst>
              <p:tags r:id="rId19"/>
            </p:custDataLst>
          </p:nvPr>
        </p:nvSpPr>
        <p:spPr>
          <a:xfrm>
            <a:off x="464113" y="321044"/>
            <a:ext cx="1720285" cy="60769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 altLang="en-US" sz="2800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团队分工</a:t>
            </a:r>
            <a:endParaRPr lang="zh-CN" altLang="en-US" sz="2800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1483360" y="2153920"/>
            <a:ext cx="1294765" cy="5835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25%</a:t>
            </a:r>
            <a:endParaRPr lang="en-US" altLang="zh-CN" sz="32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1"/>
            </p:custDataLst>
          </p:nvPr>
        </p:nvSpPr>
        <p:spPr>
          <a:xfrm>
            <a:off x="4310380" y="2153920"/>
            <a:ext cx="1294765" cy="5835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25%</a:t>
            </a:r>
            <a:endParaRPr lang="en-US" altLang="zh-CN" sz="32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2"/>
            </p:custDataLst>
          </p:nvPr>
        </p:nvSpPr>
        <p:spPr>
          <a:xfrm>
            <a:off x="7063740" y="2153920"/>
            <a:ext cx="1294765" cy="5835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25%</a:t>
            </a:r>
            <a:endParaRPr lang="en-US" altLang="zh-CN" sz="32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3"/>
            </p:custDataLst>
          </p:nvPr>
        </p:nvSpPr>
        <p:spPr>
          <a:xfrm>
            <a:off x="9933305" y="2153920"/>
            <a:ext cx="1294765" cy="5835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25%</a:t>
            </a:r>
            <a:endParaRPr lang="en-US" altLang="zh-CN" sz="3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29"/>
          <a:stretch>
            <a:fillRect/>
          </a:stretch>
        </p:blipFill>
        <p:spPr>
          <a:xfrm rot="2214168">
            <a:off x="9183200" y="1381189"/>
            <a:ext cx="4621130" cy="4507764"/>
          </a:xfrm>
          <a:custGeom>
            <a:avLst/>
            <a:gdLst>
              <a:gd name="connsiteX0" fmla="*/ 0 w 4621130"/>
              <a:gd name="connsiteY0" fmla="*/ 967739 h 4507764"/>
              <a:gd name="connsiteX1" fmla="*/ 1288776 w 4621130"/>
              <a:gd name="connsiteY1" fmla="*/ 0 h 4507764"/>
              <a:gd name="connsiteX2" fmla="*/ 1491300 w 4621130"/>
              <a:gd name="connsiteY2" fmla="*/ 0 h 4507764"/>
              <a:gd name="connsiteX3" fmla="*/ 4621130 w 4621130"/>
              <a:gd name="connsiteY3" fmla="*/ 4168118 h 4507764"/>
              <a:gd name="connsiteX4" fmla="*/ 4168810 w 4621130"/>
              <a:gd name="connsiteY4" fmla="*/ 4507764 h 4507764"/>
              <a:gd name="connsiteX5" fmla="*/ 0 w 4621130"/>
              <a:gd name="connsiteY5" fmla="*/ 4507764 h 450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1130" h="4507764">
                <a:moveTo>
                  <a:pt x="0" y="967739"/>
                </a:moveTo>
                <a:lnTo>
                  <a:pt x="1288776" y="0"/>
                </a:lnTo>
                <a:lnTo>
                  <a:pt x="1491300" y="0"/>
                </a:lnTo>
                <a:lnTo>
                  <a:pt x="4621130" y="4168118"/>
                </a:lnTo>
                <a:lnTo>
                  <a:pt x="4168810" y="4507764"/>
                </a:lnTo>
                <a:lnTo>
                  <a:pt x="0" y="4507764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79" y="-1164485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0"/>
          <a:stretch>
            <a:fillRect/>
          </a:stretch>
        </p:blipFill>
        <p:spPr>
          <a:xfrm rot="12034609">
            <a:off x="-303980" y="-1164487"/>
            <a:ext cx="5859128" cy="3829368"/>
          </a:xfrm>
          <a:custGeom>
            <a:avLst/>
            <a:gdLst>
              <a:gd name="connsiteX0" fmla="*/ 5859128 w 5859128"/>
              <a:gd name="connsiteY0" fmla="*/ 1629772 h 3829368"/>
              <a:gd name="connsiteX1" fmla="*/ 0 w 5859128"/>
              <a:gd name="connsiteY1" fmla="*/ 3829368 h 3829368"/>
              <a:gd name="connsiteX2" fmla="*/ 0 w 5859128"/>
              <a:gd name="connsiteY2" fmla="*/ 166696 h 3829368"/>
              <a:gd name="connsiteX3" fmla="*/ 444034 w 5859128"/>
              <a:gd name="connsiteY3" fmla="*/ 0 h 3829368"/>
              <a:gd name="connsiteX4" fmla="*/ 5271276 w 5859128"/>
              <a:gd name="connsiteY4" fmla="*/ 0 h 3829368"/>
              <a:gd name="connsiteX5" fmla="*/ 5859128 w 5859128"/>
              <a:gd name="connsiteY5" fmla="*/ 1565878 h 382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9128" h="3829368">
                <a:moveTo>
                  <a:pt x="5859128" y="1629772"/>
                </a:moveTo>
                <a:lnTo>
                  <a:pt x="0" y="3829368"/>
                </a:lnTo>
                <a:lnTo>
                  <a:pt x="0" y="166696"/>
                </a:lnTo>
                <a:lnTo>
                  <a:pt x="444034" y="0"/>
                </a:lnTo>
                <a:lnTo>
                  <a:pt x="5271276" y="0"/>
                </a:lnTo>
                <a:lnTo>
                  <a:pt x="5859128" y="1565878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" r="4851" b="34531"/>
          <a:stretch>
            <a:fillRect/>
          </a:stretch>
        </p:blipFill>
        <p:spPr>
          <a:xfrm rot="7635096">
            <a:off x="-2694855" y="204119"/>
            <a:ext cx="7024318" cy="3922732"/>
          </a:xfrm>
          <a:custGeom>
            <a:avLst/>
            <a:gdLst>
              <a:gd name="connsiteX0" fmla="*/ 2283192 w 7024318"/>
              <a:gd name="connsiteY0" fmla="*/ 3922732 h 3922732"/>
              <a:gd name="connsiteX1" fmla="*/ 0 w 7024318"/>
              <a:gd name="connsiteY1" fmla="*/ 920356 h 3922732"/>
              <a:gd name="connsiteX2" fmla="*/ 1210260 w 7024318"/>
              <a:gd name="connsiteY2" fmla="*/ 0 h 3922732"/>
              <a:gd name="connsiteX3" fmla="*/ 6783033 w 7024318"/>
              <a:gd name="connsiteY3" fmla="*/ 0 h 3922732"/>
              <a:gd name="connsiteX4" fmla="*/ 7024318 w 7024318"/>
              <a:gd name="connsiteY4" fmla="*/ 317288 h 39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318" h="3922732">
                <a:moveTo>
                  <a:pt x="2283192" y="3922732"/>
                </a:moveTo>
                <a:lnTo>
                  <a:pt x="0" y="920356"/>
                </a:lnTo>
                <a:lnTo>
                  <a:pt x="1210260" y="0"/>
                </a:lnTo>
                <a:lnTo>
                  <a:pt x="6783033" y="0"/>
                </a:lnTo>
                <a:lnTo>
                  <a:pt x="7024318" y="317288"/>
                </a:lnTo>
                <a:close/>
              </a:path>
            </a:pathLst>
          </a:cu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1" b="8567"/>
          <a:stretch>
            <a:fillRect/>
          </a:stretch>
        </p:blipFill>
        <p:spPr>
          <a:xfrm rot="1794287">
            <a:off x="7203366" y="2864966"/>
            <a:ext cx="5302540" cy="5478388"/>
          </a:xfrm>
          <a:custGeom>
            <a:avLst/>
            <a:gdLst>
              <a:gd name="connsiteX0" fmla="*/ 0 w 5302540"/>
              <a:gd name="connsiteY0" fmla="*/ 465524 h 5478388"/>
              <a:gd name="connsiteX1" fmla="*/ 809416 w 5302540"/>
              <a:gd name="connsiteY1" fmla="*/ 0 h 5478388"/>
              <a:gd name="connsiteX2" fmla="*/ 3772231 w 5302540"/>
              <a:gd name="connsiteY2" fmla="*/ 0 h 5478388"/>
              <a:gd name="connsiteX3" fmla="*/ 5302540 w 5302540"/>
              <a:gd name="connsiteY3" fmla="*/ 2660776 h 5478388"/>
              <a:gd name="connsiteX4" fmla="*/ 403508 w 5302540"/>
              <a:gd name="connsiteY4" fmla="*/ 5478388 h 5478388"/>
              <a:gd name="connsiteX5" fmla="*/ 0 w 5302540"/>
              <a:gd name="connsiteY5" fmla="*/ 4776801 h 547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02540" h="5478388">
                <a:moveTo>
                  <a:pt x="0" y="465524"/>
                </a:moveTo>
                <a:lnTo>
                  <a:pt x="809416" y="0"/>
                </a:lnTo>
                <a:lnTo>
                  <a:pt x="3772231" y="0"/>
                </a:lnTo>
                <a:lnTo>
                  <a:pt x="5302540" y="2660776"/>
                </a:lnTo>
                <a:lnTo>
                  <a:pt x="403508" y="5478388"/>
                </a:lnTo>
                <a:lnTo>
                  <a:pt x="0" y="4776801"/>
                </a:lnTo>
                <a:close/>
              </a:path>
            </a:pathLst>
          </a:custGeom>
        </p:spPr>
      </p:pic>
      <p:sp>
        <p:nvSpPr>
          <p:cNvPr id="25" name="圆角矩形 24"/>
          <p:cNvSpPr/>
          <p:nvPr/>
        </p:nvSpPr>
        <p:spPr>
          <a:xfrm>
            <a:off x="3352800" y="2684681"/>
            <a:ext cx="5511800" cy="248851"/>
          </a:xfrm>
          <a:prstGeom prst="roundRect">
            <a:avLst>
              <a:gd name="adj" fmla="val 50000"/>
            </a:avLst>
          </a:prstGeom>
          <a:solidFill>
            <a:srgbClr val="D4D0C6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8909E"/>
              </a:solidFill>
            </a:endParaRPr>
          </a:p>
        </p:txBody>
      </p:sp>
      <p:sp>
        <p:nvSpPr>
          <p:cNvPr id="26" name="PA_文本框 2"/>
          <p:cNvSpPr txBox="1"/>
          <p:nvPr>
            <p:custDataLst>
              <p:tags r:id="rId3"/>
            </p:custDataLst>
          </p:nvPr>
        </p:nvSpPr>
        <p:spPr>
          <a:xfrm>
            <a:off x="928370" y="1700530"/>
            <a:ext cx="10764520" cy="10718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/>
            <a:r>
              <a:rPr lang="en-US" altLang="zh-CN" b="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</a:rPr>
              <a:t>THANKS FOR LISTENING</a:t>
            </a:r>
            <a:endParaRPr lang="en-US" altLang="zh-CN" b="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1864360" y="2978150"/>
            <a:ext cx="889254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sym typeface="+mn-ea"/>
              </a:rPr>
              <a:t>“学海智航”：LearnSailor</a:t>
            </a:r>
            <a:endParaRPr lang="zh-CN" altLang="en-US" sz="36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rgbClr val="78909E"/>
                </a:solidFill>
                <a:latin typeface="汉仪瑞意宋W" panose="00020600040101010101" pitchFamily="18" charset="-122"/>
                <a:ea typeface="汉仪瑞意宋W" panose="00020600040101010101" pitchFamily="18" charset="-122"/>
                <a:sym typeface="+mn-ea"/>
              </a:rPr>
              <a:t>——基于Langchain的知识图智能问答系统</a:t>
            </a:r>
            <a:endParaRPr lang="zh-CN" altLang="en-US" sz="3600" dirty="0">
              <a:solidFill>
                <a:srgbClr val="78909E"/>
              </a:solidFill>
              <a:latin typeface="汉仪瑞意宋W" panose="00020600040101010101" pitchFamily="18" charset="-122"/>
              <a:ea typeface="汉仪瑞意宋W" panose="00020600040101010101" pitchFamily="18" charset="-122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085590" y="4608195"/>
            <a:ext cx="4417695" cy="338455"/>
          </a:xfrm>
          <a:prstGeom prst="roundRect">
            <a:avLst>
              <a:gd name="adj" fmla="val 50000"/>
            </a:avLst>
          </a:prstGeom>
          <a:solidFill>
            <a:srgbClr val="78909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194175" y="4610735"/>
            <a:ext cx="46628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项目成员：段书文、郭力维、刘子玉、毛晓一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KSO_WM_UNIT_PLACING_PICTURE_USER_VIEWPORT" val="{&quot;height&quot;:1190,&quot;width&quot;:14004}"/>
</p:tagLst>
</file>

<file path=ppt/tags/tag3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4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5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6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7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8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9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0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KSO_WM_DIAGRAM_VIRTUALLY_FRAME" val="{&quot;height&quot;:268.75,&quot;left&quot;:136.38007874015747,&quot;top&quot;:188.5,&quot;width&quot;:746.6199212598425}"/>
</p:tagLst>
</file>

<file path=ppt/tags/tag13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4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5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6.xml><?xml version="1.0" encoding="utf-8"?>
<p:tagLst xmlns:p="http://schemas.openxmlformats.org/presentationml/2006/main">
  <p:tag name="KSO_WM_DIAGRAM_VIRTUALLY_FRAME" val="{&quot;height&quot;:268.75,&quot;left&quot;:93.83007874015748,&quot;top&quot;:188.5,&quot;width&quot;:789.1699212598426}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PA" val="v4.1.3"/>
</p:tagLst>
</file>

<file path=ppt/tags/tag19.xml><?xml version="1.0" encoding="utf-8"?>
<p:tagLst xmlns:p="http://schemas.openxmlformats.org/presentationml/2006/main">
  <p:tag name="KSO_WM_UNIT_PLACING_PICTURE_USER_VIEWPORT" val="{&quot;height&quot;:6235,&quot;width&quot;:4329.63937007874}"/>
</p:tagLst>
</file>

<file path=ppt/tags/tag20.xml><?xml version="1.0" encoding="utf-8"?>
<p:tagLst xmlns:p="http://schemas.openxmlformats.org/presentationml/2006/main">
  <p:tag name="KSO_WM_UNIT_PLACING_PICTURE_USER_VIEWPORT" val="{&quot;height&quot;:8627.382677165355,&quot;width&quot;:8350.456692913385}"/>
</p:tagLst>
</file>

<file path=ppt/tags/tag21.xml><?xml version="1.0" encoding="utf-8"?>
<p:tagLst xmlns:p="http://schemas.openxmlformats.org/presentationml/2006/main">
  <p:tag name="PA" val="v4.1.3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KSO_WM_UNIT_PLACING_PICTURE_USER_VIEWPORT" val="{&quot;height&quot;:10875,&quot;width&quot;:15840}"/>
</p:tagLst>
</file>

<file path=ppt/tags/tag26.xml><?xml version="1.0" encoding="utf-8"?>
<p:tagLst xmlns:p="http://schemas.openxmlformats.org/presentationml/2006/main">
  <p:tag name="PA" val="v4.1.3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PA" val="v4.1.3"/>
</p:tagLst>
</file>

<file path=ppt/tags/tag29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0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1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2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3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4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5.xml><?xml version="1.0" encoding="utf-8"?>
<p:tagLst xmlns:p="http://schemas.openxmlformats.org/presentationml/2006/main">
  <p:tag name="PA" val="v4.1.3"/>
</p:tagLst>
</file>

<file path=ppt/tags/tag36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7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8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39.xml><?xml version="1.0" encoding="utf-8"?>
<p:tagLst xmlns:p="http://schemas.openxmlformats.org/presentationml/2006/main">
  <p:tag name="KSO_WM_DIAGRAM_VIRTUALLY_FRAME" val="{&quot;height&quot;:368.05,&quot;left&quot;:78.15,&quot;top&quot;:150.8,&quot;width&quot;:833.35}"/>
</p:tagLst>
</file>

<file path=ppt/tags/tag40.xml><?xml version="1.0" encoding="utf-8"?>
<p:tagLst xmlns:p="http://schemas.openxmlformats.org/presentationml/2006/main">
  <p:tag name="PA" val="v4.1.3"/>
</p:tagLst>
</file>

<file path=ppt/tags/tag41.xml><?xml version="1.0" encoding="utf-8"?>
<p:tagLst xmlns:p="http://schemas.openxmlformats.org/presentationml/2006/main">
  <p:tag name="PA" val="v4.1.3"/>
</p:tagLst>
</file>

<file path=ppt/tags/tag42.xml><?xml version="1.0" encoding="utf-8"?>
<p:tagLst xmlns:p="http://schemas.openxmlformats.org/presentationml/2006/main">
  <p:tag name="PA" val="v4.1.3"/>
</p:tagLst>
</file>

<file path=ppt/tags/tag43.xml><?xml version="1.0" encoding="utf-8"?>
<p:tagLst xmlns:p="http://schemas.openxmlformats.org/presentationml/2006/main">
  <p:tag name="PA" val="v4.1.3"/>
</p:tagLst>
</file>

<file path=ppt/tags/tag44.xml><?xml version="1.0" encoding="utf-8"?>
<p:tagLst xmlns:p="http://schemas.openxmlformats.org/presentationml/2006/main">
  <p:tag name="PA" val="v4.1.3"/>
</p:tagLst>
</file>

<file path=ppt/tags/tag45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46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47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48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49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0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1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2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3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4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5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6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7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8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59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0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1.xml><?xml version="1.0" encoding="utf-8"?>
<p:tagLst xmlns:p="http://schemas.openxmlformats.org/presentationml/2006/main">
  <p:tag name="PA" val="v4.1.3"/>
</p:tagLst>
</file>

<file path=ppt/tags/tag62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3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4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5.xml><?xml version="1.0" encoding="utf-8"?>
<p:tagLst xmlns:p="http://schemas.openxmlformats.org/presentationml/2006/main">
  <p:tag name="KSO_WM_DIAGRAM_VIRTUALLY_FRAME" val="{&quot;height&quot;:304.50834645669295,&quot;left&quot;:56.1551968503937,&quot;top&quot;:149.77740157480315,&quot;width&quot;:849.8448818897639}"/>
</p:tagLst>
</file>

<file path=ppt/tags/tag66.xml><?xml version="1.0" encoding="utf-8"?>
<p:tagLst xmlns:p="http://schemas.openxmlformats.org/presentationml/2006/main">
  <p:tag name="PA" val="v4.1.3"/>
</p:tagLst>
</file>

<file path=ppt/tags/tag67.xml><?xml version="1.0" encoding="utf-8"?>
<p:tagLst xmlns:p="http://schemas.openxmlformats.org/presentationml/2006/main">
  <p:tag name="KSO_WM_UNIT_PLACING_PICTURE_USER_VIEWPORT" val="{&quot;height&quot;:1190,&quot;width&quot;:14004}"/>
</p:tagLst>
</file>

<file path=ppt/tags/tag68.xml><?xml version="1.0" encoding="utf-8"?>
<p:tagLst xmlns:p="http://schemas.openxmlformats.org/presentationml/2006/main">
  <p:tag name="commondata" val="eyJoZGlkIjoiNWFkODkyZDRkNzgyMDAwMmYwZmEzMGRmNWQ5ZTM2YzQifQ=="/>
  <p:tag name="KSO_WPP_MARK_KEY" val="7fa65d66-ca40-4df4-be55-dc458c32937a"/>
  <p:tag name="COMMONDATA" val="eyJoZGlkIjoiYjhhZmQ3OGY5MjRjOGU0OWIyNzM1MGFjY2ZmY2M4ODMifQ=="/>
</p:tagLst>
</file>

<file path=ppt/theme/theme1.xml><?xml version="1.0" encoding="utf-8"?>
<a:theme xmlns:a="http://schemas.openxmlformats.org/drawingml/2006/main" name="https://v.youku.com/v_show/id_XNTg4OTcwMDM3Ng==.htm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演示</Application>
  <PresentationFormat>宽屏</PresentationFormat>
  <Paragraphs>195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汉仪瑞意宋W</vt:lpstr>
      <vt:lpstr>等线</vt:lpstr>
      <vt:lpstr>等线 Light</vt:lpstr>
      <vt:lpstr>Arial Unicode MS</vt:lpstr>
      <vt:lpstr>Calibri</vt:lpstr>
      <vt:lpstr>Wingdings 2</vt:lpstr>
      <vt:lpstr>https://v.youku.com/v_show/id_XNTg4OTcwMDM3Ng==.html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01</dc:creator>
  <cp:lastModifiedBy>段书文</cp:lastModifiedBy>
  <cp:revision>108</cp:revision>
  <dcterms:created xsi:type="dcterms:W3CDTF">2021-03-04T13:11:00Z</dcterms:created>
  <dcterms:modified xsi:type="dcterms:W3CDTF">2025-01-22T02:37:05Z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2052-11.1.0.13012</vt:lpwstr>
  </property>
  <property fmtid="{D5CDD505-2E9C-101B-9397-08002B2CF9AE}" pid="3" name="ICV">
    <vt:lpwstr>2C0AA166311B4928ABD26962EF584A40_13</vt:lpwstr>
  </property>
</Properties>
</file>